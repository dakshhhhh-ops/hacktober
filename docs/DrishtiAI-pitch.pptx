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8d74bae-7a29-9241-b334-107871ab055a}">
          <p14:sldIdLst>
            <p14:sldId id="256"/>
            <p14:sldId id="257"/>
          </p14:sldIdLst>
        </p14:section>
        <p14:section name="Product" id="{9e899b54-b9e8-5181-42de-604de834d96e}">
          <p14:sldIdLst>
            <p14:sldId id="258"/>
            <p14:sldId id="259"/>
          </p14:sldIdLst>
        </p14:section>
        <p14:section name="Evidence" id="{364a6735-38a6-682d-cb5b-b689de537891}">
          <p14:sldIdLst>
            <p14:sldId id="260"/>
            <p14:sldId id="261"/>
          </p14:sldIdLst>
        </p14:section>
        <p14:section name="Close" id="{d05e25b6-a44c-17ae-e999-3a0f30d7e650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 run</c:v>
                </c:pt>
              </c:strCache>
            </c:strRef>
          </c:tx>
          <c:spPr>
            <a:solidFill>
              <a:srgbClr val="8A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Hazards found (of 15)</c:v>
                  </c:pt>
                  <c:pt idx="1">
                    <c:v>Missed hazards</c:v>
                  </c:pt>
                  <c:pt idx="2">
                    <c:v>False alarms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6</c:v>
                </c:pt>
                <c:pt idx="2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the prompt fix</c:v>
                </c:pt>
              </c:strCache>
            </c:strRef>
          </c:tx>
          <c:spPr>
            <a:solidFill>
              <a:srgbClr val="FFD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Hazards found (of 15)</c:v>
                  </c:pt>
                  <c:pt idx="1">
                    <c:v>Missed hazards</c:v>
                  </c:pt>
                  <c:pt idx="2">
                    <c:v>False alarms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8C8C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C8C8C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DrishtiAI describes what is in front of a blind or low-vision person. It runs entirely on this laptop: an open-weight vision model, no cloud. Drishti is Hindi for sight. I will show the problem, a live demo, how it works, and what the evaluation found, including what it gets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scene-description apps send every camera frame to a server. That is a privacy problem, it fails without signal, and it costs money per image. The question for today: how far can a small open model on one laptop get?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HERE. Wi-Fi is off. Press Space on a scene with something in the way: it warns first, then describes. Press 2 and hold up a printed label. Press 3, type water bottle, press Enter. Press L to hear the same answer in Hindi. The whole page works from the keyboard.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frame goes to FastAPI on this machine, then to Qwen3-VL through Ollama. The model must return strict JSON. If it does not validate, it is asked once more, and after that the answer is marked as rough: hazards are never invented to fill a gap. A separate speech layer decides what is said, always hazards first. The same function is packaged as an Agent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fixed images: 21 openly licensed photos and 9 rendered text images. Missed hazards are counted on their own because that is the dangerous failure. The first real run was poor: 9 of 15 found and 31 false alarms. After one prompt change it found 14 of 15 with 6 false alarms. Be upfront: I tuned on this same set, so this is optimistic, and it still over-warns on clear scenes. Both result files are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worked the first time, and each failure is documented. The plain model tag was a thinking variant that never produced an answer. The model then parroted my own example hazards back at me. And it cannot write Hindi, so Hindi warnings come from a fixed glossary: correct and predictable, but it drops adjectives.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an experimental aid, not a safety device. It over-warns, it takes four to five seconds end to end, and it misreads small text. Next I would build a held-out test set, try a larger multilingual model for real Hindi, and add voice input. Everything is in the repository: MIT code, an Apache-2.0 model, the evaluation, the tests and the Agent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4480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331720"/>
            <a:ext cx="4297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DrishtiAI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3258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DrishtiAI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3317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Offline eyes that speak. An open-weight vision model that warns about hazards first, in English and Hindi.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Best Open-Source AI Project  ·  Hacktoberfest Hack Day Hamirpur x ISTE NITH  ·  Daksh</a:t>
            </a:r>
            <a:endParaRPr lang="en-US" sz="1200" dirty="0"/>
          </a:p>
        </p:txBody>
      </p:sp>
      <p:pic>
        <p:nvPicPr>
          <p:cNvPr id="5" name="App screenshot" descr="The DrishtiAI page showing a camera view and two hazard warn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685800"/>
            <a:ext cx="3566160" cy="3191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Describing a scene should not need the cloud</a:t>
            </a:r>
            <a:endParaRPr lang="en-US" sz="2800" dirty="0"/>
          </a:p>
        </p:txBody>
      </p:sp>
      <p:sp>
        <p:nvSpPr>
          <p:cNvPr id="3" name="Card Privacy"/>
          <p:cNvSpPr/>
          <p:nvPr/>
        </p:nvSpPr>
        <p:spPr>
          <a:xfrm>
            <a:off x="45720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4" name="Number 01"/>
          <p:cNvSpPr txBox="1"/>
          <p:nvPr/>
        </p:nvSpPr>
        <p:spPr>
          <a:xfrm>
            <a:off x="7315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5" name="Head Privacy"/>
          <p:cNvSpPr txBox="1"/>
          <p:nvPr/>
        </p:nvSpPr>
        <p:spPr>
          <a:xfrm>
            <a:off x="73152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Privacy</a:t>
            </a:r>
            <a:endParaRPr lang="en-US" sz="2000" dirty="0"/>
          </a:p>
        </p:txBody>
      </p:sp>
      <p:sp>
        <p:nvSpPr>
          <p:cNvPr id="6" name="Body Privacy"/>
          <p:cNvSpPr txBox="1"/>
          <p:nvPr/>
        </p:nvSpPr>
        <p:spPr>
          <a:xfrm>
            <a:off x="731520" y="27889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Cloud apps upload every photo: faces, bank letters, prescriptions.</a:t>
            </a:r>
            <a:endParaRPr lang="en-US" sz="1400" dirty="0"/>
          </a:p>
        </p:txBody>
      </p:sp>
      <p:sp>
        <p:nvSpPr>
          <p:cNvPr id="7" name="Card Connectivity"/>
          <p:cNvSpPr/>
          <p:nvPr/>
        </p:nvSpPr>
        <p:spPr>
          <a:xfrm>
            <a:off x="329184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8" name="Number 02"/>
          <p:cNvSpPr txBox="1"/>
          <p:nvPr/>
        </p:nvSpPr>
        <p:spPr>
          <a:xfrm>
            <a:off x="356616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9" name="Head Connectivity"/>
          <p:cNvSpPr txBox="1"/>
          <p:nvPr/>
        </p:nvSpPr>
        <p:spPr>
          <a:xfrm>
            <a:off x="356616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Connectivity</a:t>
            </a:r>
            <a:endParaRPr lang="en-US" sz="2000" dirty="0"/>
          </a:p>
        </p:txBody>
      </p:sp>
      <p:sp>
        <p:nvSpPr>
          <p:cNvPr id="10" name="Body Connectivity"/>
          <p:cNvSpPr txBox="1"/>
          <p:nvPr/>
        </p:nvSpPr>
        <p:spPr>
          <a:xfrm>
            <a:off x="3566160" y="27889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 signal in a hostel basement or a village means no description at all.</a:t>
            </a:r>
            <a:endParaRPr lang="en-US" sz="1400" dirty="0"/>
          </a:p>
        </p:txBody>
      </p:sp>
      <p:sp>
        <p:nvSpPr>
          <p:cNvPr id="11" name="Card Cost"/>
          <p:cNvSpPr/>
          <p:nvPr/>
        </p:nvSpPr>
        <p:spPr>
          <a:xfrm>
            <a:off x="612648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12" name="Number 03"/>
          <p:cNvSpPr txBox="1"/>
          <p:nvPr/>
        </p:nvSpPr>
        <p:spPr>
          <a:xfrm>
            <a:off x="640080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13" name="Head Cost"/>
          <p:cNvSpPr txBox="1"/>
          <p:nvPr/>
        </p:nvSpPr>
        <p:spPr>
          <a:xfrm>
            <a:off x="640080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Cost</a:t>
            </a:r>
            <a:endParaRPr lang="en-US" sz="2000" dirty="0"/>
          </a:p>
        </p:txBody>
      </p:sp>
      <p:sp>
        <p:nvSpPr>
          <p:cNvPr id="14" name="Body Cost"/>
          <p:cNvSpPr txBox="1"/>
          <p:nvPr/>
        </p:nvSpPr>
        <p:spPr>
          <a:xfrm>
            <a:off x="6400800" y="27889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Per-image charges add up for something a person uses all day.</a:t>
            </a:r>
            <a:endParaRPr lang="en-US" sz="1400" dirty="0"/>
          </a:p>
        </p:txBody>
      </p:sp>
      <p:sp>
        <p:nvSpPr>
          <p:cNvPr id="15" name="Answer line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DrishtiAI keeps every frame on the laptop: no upload, no signal needed, no bill.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Three modes, spoken aloud, hazards first</a:t>
            </a:r>
            <a:endParaRPr lang="en-US" sz="2800" dirty="0"/>
          </a:p>
        </p:txBody>
      </p:sp>
      <p:sp>
        <p:nvSpPr>
          <p:cNvPr id="3" name="Key 1"/>
          <p:cNvSpPr/>
          <p:nvPr/>
        </p:nvSpPr>
        <p:spPr>
          <a:xfrm>
            <a:off x="457200" y="1325880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endParaRPr lang="en-US" sz="2600" dirty="0"/>
          </a:p>
        </p:txBody>
      </p:sp>
      <p:sp>
        <p:nvSpPr>
          <p:cNvPr id="4" name="Mode Surroundings"/>
          <p:cNvSpPr txBox="1"/>
          <p:nvPr/>
        </p:nvSpPr>
        <p:spPr>
          <a:xfrm>
            <a:off x="1371600" y="1307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Surroundings</a:t>
            </a:r>
            <a:endParaRPr lang="en-US" sz="2000" dirty="0"/>
          </a:p>
        </p:txBody>
      </p:sp>
      <p:sp>
        <p:nvSpPr>
          <p:cNvPr id="5" name="Mode Surroundings detail"/>
          <p:cNvSpPr txBox="1"/>
          <p:nvPr/>
        </p:nvSpPr>
        <p:spPr>
          <a:xfrm>
            <a:off x="1371600" y="16550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Warns about what is in the way, then gives one line about the scene.</a:t>
            </a:r>
            <a:endParaRPr lang="en-US" sz="1400" dirty="0"/>
          </a:p>
        </p:txBody>
      </p:sp>
      <p:sp>
        <p:nvSpPr>
          <p:cNvPr id="6" name="Key 2"/>
          <p:cNvSpPr/>
          <p:nvPr/>
        </p:nvSpPr>
        <p:spPr>
          <a:xfrm>
            <a:off x="457200" y="2377440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en-US" sz="2600" dirty="0"/>
          </a:p>
        </p:txBody>
      </p:sp>
      <p:sp>
        <p:nvSpPr>
          <p:cNvPr id="7" name="Mode Read"/>
          <p:cNvSpPr txBox="1"/>
          <p:nvPr/>
        </p:nvSpPr>
        <p:spPr>
          <a:xfrm>
            <a:off x="1371600" y="2359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Read</a:t>
            </a:r>
            <a:endParaRPr lang="en-US" sz="2000" dirty="0"/>
          </a:p>
        </p:txBody>
      </p:sp>
      <p:sp>
        <p:nvSpPr>
          <p:cNvPr id="8" name="Mode Read detail"/>
          <p:cNvSpPr txBox="1"/>
          <p:nvPr/>
        </p:nvSpPr>
        <p:spPr>
          <a:xfrm>
            <a:off x="1371600" y="27066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Reads signs, labels and packaging, exactly as written.</a:t>
            </a:r>
            <a:endParaRPr lang="en-US" sz="1400" dirty="0"/>
          </a:p>
        </p:txBody>
      </p:sp>
      <p:sp>
        <p:nvSpPr>
          <p:cNvPr id="9" name="Key 3"/>
          <p:cNvSpPr/>
          <p:nvPr/>
        </p:nvSpPr>
        <p:spPr>
          <a:xfrm>
            <a:off x="457200" y="3429000"/>
            <a:ext cx="6858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</a:t>
            </a:r>
            <a:endParaRPr lang="en-US" sz="2600" dirty="0"/>
          </a:p>
        </p:txBody>
      </p:sp>
      <p:sp>
        <p:nvSpPr>
          <p:cNvPr id="10" name="Mode Find"/>
          <p:cNvSpPr txBox="1"/>
          <p:nvPr/>
        </p:nvSpPr>
        <p:spPr>
          <a:xfrm>
            <a:off x="137160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Find</a:t>
            </a:r>
            <a:endParaRPr lang="en-US" sz="2000" dirty="0"/>
          </a:p>
        </p:txBody>
      </p:sp>
      <p:sp>
        <p:nvSpPr>
          <p:cNvPr id="11" name="Mode Find detail"/>
          <p:cNvSpPr txBox="1"/>
          <p:nvPr/>
        </p:nvSpPr>
        <p:spPr>
          <a:xfrm>
            <a:off x="1371600" y="37581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You name an object. It answers found, not found or uncertain.</a:t>
            </a:r>
            <a:endParaRPr lang="en-US" sz="1400" dirty="0"/>
          </a:p>
        </p:txBody>
      </p:sp>
      <p:pic>
        <p:nvPicPr>
          <p:cNvPr id="12" name="Warnings in English" descr="Two warning cards in English: open sewer manhole ahead, traffic cone on the 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71600"/>
            <a:ext cx="3840480" cy="1325880"/>
          </a:xfrm>
          <a:prstGeom prst="rect">
            <a:avLst/>
          </a:prstGeom>
        </p:spPr>
      </p:pic>
      <p:pic>
        <p:nvPicPr>
          <p:cNvPr id="13" name="Warnings in Hindi" descr="The same two warning cards in Hind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971800"/>
            <a:ext cx="3840480" cy="1325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One local pipeline, open at every step</a:t>
            </a:r>
            <a:endParaRPr lang="en-US" sz="2800" dirty="0"/>
          </a:p>
        </p:txBody>
      </p:sp>
      <p:sp>
        <p:nvSpPr>
          <p:cNvPr id="3" name="Step Webcam"/>
          <p:cNvSpPr/>
          <p:nvPr/>
        </p:nvSpPr>
        <p:spPr>
          <a:xfrm>
            <a:off x="457200" y="132588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4" name="Step Webcam name"/>
          <p:cNvSpPr txBox="1"/>
          <p:nvPr/>
        </p:nvSpPr>
        <p:spPr>
          <a:xfrm>
            <a:off x="54864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Webcam</a:t>
            </a:r>
            <a:endParaRPr lang="en-US" sz="1400" dirty="0"/>
          </a:p>
        </p:txBody>
      </p:sp>
      <p:sp>
        <p:nvSpPr>
          <p:cNvPr id="5" name="Step Webcam detail"/>
          <p:cNvSpPr txBox="1"/>
          <p:nvPr/>
        </p:nvSpPr>
        <p:spPr>
          <a:xfrm>
            <a:off x="548640" y="1901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one frame, never saved</a:t>
            </a:r>
            <a:endParaRPr lang="en-US" sz="1100" dirty="0"/>
          </a:p>
        </p:txBody>
      </p:sp>
      <p:sp>
        <p:nvSpPr>
          <p:cNvPr id="6" name="Arrow 1"/>
          <p:cNvSpPr/>
          <p:nvPr/>
        </p:nvSpPr>
        <p:spPr>
          <a:xfrm>
            <a:off x="1673352" y="1897380"/>
            <a:ext cx="16459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7" name="Step FastAPI"/>
          <p:cNvSpPr/>
          <p:nvPr/>
        </p:nvSpPr>
        <p:spPr>
          <a:xfrm>
            <a:off x="1865376" y="132588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8" name="Step FastAPI name"/>
          <p:cNvSpPr txBox="1"/>
          <p:nvPr/>
        </p:nvSpPr>
        <p:spPr>
          <a:xfrm>
            <a:off x="1956816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FastAPI</a:t>
            </a:r>
            <a:endParaRPr lang="en-US" sz="1400" dirty="0"/>
          </a:p>
        </p:txBody>
      </p:sp>
      <p:sp>
        <p:nvSpPr>
          <p:cNvPr id="9" name="Step FastAPI detail"/>
          <p:cNvSpPr txBox="1"/>
          <p:nvPr/>
        </p:nvSpPr>
        <p:spPr>
          <a:xfrm>
            <a:off x="1956816" y="1901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on 127.0.0.1 only</a:t>
            </a:r>
            <a:endParaRPr lang="en-US" sz="1100" dirty="0"/>
          </a:p>
        </p:txBody>
      </p:sp>
      <p:sp>
        <p:nvSpPr>
          <p:cNvPr id="10" name="Arrow 2"/>
          <p:cNvSpPr/>
          <p:nvPr/>
        </p:nvSpPr>
        <p:spPr>
          <a:xfrm>
            <a:off x="3081528" y="1897380"/>
            <a:ext cx="16459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1" name="Step Qwen3-VL 2B"/>
          <p:cNvSpPr/>
          <p:nvPr/>
        </p:nvSpPr>
        <p:spPr>
          <a:xfrm>
            <a:off x="3273552" y="132588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12" name="Step Qwen3-VL 2B name"/>
          <p:cNvSpPr txBox="1"/>
          <p:nvPr/>
        </p:nvSpPr>
        <p:spPr>
          <a:xfrm>
            <a:off x="3364992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Qwen3-VL 2B</a:t>
            </a:r>
            <a:endParaRPr lang="en-US" sz="1400" dirty="0"/>
          </a:p>
        </p:txBody>
      </p:sp>
      <p:sp>
        <p:nvSpPr>
          <p:cNvPr id="13" name="Step Qwen3-VL 2B detail"/>
          <p:cNvSpPr txBox="1"/>
          <p:nvPr/>
        </p:nvSpPr>
        <p:spPr>
          <a:xfrm>
            <a:off x="3364992" y="1901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 weights, via Ollama</a:t>
            </a:r>
            <a:endParaRPr lang="en-US" sz="1100" dirty="0"/>
          </a:p>
        </p:txBody>
      </p:sp>
      <p:sp>
        <p:nvSpPr>
          <p:cNvPr id="14" name="Arrow 3"/>
          <p:cNvSpPr/>
          <p:nvPr/>
        </p:nvSpPr>
        <p:spPr>
          <a:xfrm>
            <a:off x="4489704" y="1897380"/>
            <a:ext cx="16459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5" name="Step Validation"/>
          <p:cNvSpPr/>
          <p:nvPr/>
        </p:nvSpPr>
        <p:spPr>
          <a:xfrm>
            <a:off x="4681728" y="132588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6" name="Step Validation name"/>
          <p:cNvSpPr txBox="1"/>
          <p:nvPr/>
        </p:nvSpPr>
        <p:spPr>
          <a:xfrm>
            <a:off x="4773168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7" name="Step Validation detail"/>
          <p:cNvSpPr txBox="1"/>
          <p:nvPr/>
        </p:nvSpPr>
        <p:spPr>
          <a:xfrm>
            <a:off x="4773168" y="1901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strict JSON, one retry</a:t>
            </a:r>
            <a:endParaRPr lang="en-US" sz="1100" dirty="0"/>
          </a:p>
        </p:txBody>
      </p:sp>
      <p:sp>
        <p:nvSpPr>
          <p:cNvPr id="18" name="Arrow 4"/>
          <p:cNvSpPr/>
          <p:nvPr/>
        </p:nvSpPr>
        <p:spPr>
          <a:xfrm>
            <a:off x="5897880" y="1897380"/>
            <a:ext cx="16459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Step Speech rules"/>
          <p:cNvSpPr/>
          <p:nvPr/>
        </p:nvSpPr>
        <p:spPr>
          <a:xfrm>
            <a:off x="6089904" y="132588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20" name="Step Speech rules name"/>
          <p:cNvSpPr txBox="1"/>
          <p:nvPr/>
        </p:nvSpPr>
        <p:spPr>
          <a:xfrm>
            <a:off x="6181344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Speech rules</a:t>
            </a:r>
            <a:endParaRPr lang="en-US" sz="1400" dirty="0"/>
          </a:p>
        </p:txBody>
      </p:sp>
      <p:sp>
        <p:nvSpPr>
          <p:cNvPr id="21" name="Step Speech rules detail"/>
          <p:cNvSpPr txBox="1"/>
          <p:nvPr/>
        </p:nvSpPr>
        <p:spPr>
          <a:xfrm>
            <a:off x="6181344" y="1901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hazards first, nearest first</a:t>
            </a:r>
            <a:endParaRPr lang="en-US" sz="1100" dirty="0"/>
          </a:p>
        </p:txBody>
      </p:sp>
      <p:sp>
        <p:nvSpPr>
          <p:cNvPr id="22" name="Arrow 5"/>
          <p:cNvSpPr/>
          <p:nvPr/>
        </p:nvSpPr>
        <p:spPr>
          <a:xfrm>
            <a:off x="7306056" y="1897380"/>
            <a:ext cx="164592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3" name="Step Piper voice"/>
          <p:cNvSpPr/>
          <p:nvPr/>
        </p:nvSpPr>
        <p:spPr>
          <a:xfrm>
            <a:off x="7498080" y="1325880"/>
            <a:ext cx="118872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24" name="Step Piper voice name"/>
          <p:cNvSpPr txBox="1"/>
          <p:nvPr/>
        </p:nvSpPr>
        <p:spPr>
          <a:xfrm>
            <a:off x="758952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Piper voice</a:t>
            </a:r>
            <a:endParaRPr lang="en-US" sz="1400" dirty="0"/>
          </a:p>
        </p:txBody>
      </p:sp>
      <p:sp>
        <p:nvSpPr>
          <p:cNvPr id="25" name="Step Piper voice detail"/>
          <p:cNvSpPr txBox="1"/>
          <p:nvPr/>
        </p:nvSpPr>
        <p:spPr>
          <a:xfrm>
            <a:off x="7589520" y="19019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offline, EN and HI</a:t>
            </a:r>
            <a:endParaRPr lang="en-US" sz="1100" dirty="0"/>
          </a:p>
        </p:txBody>
      </p:sp>
      <p:sp>
        <p:nvSpPr>
          <p:cNvPr id="26" name="Fact model weights"/>
          <p:cNvSpPr/>
          <p:nvPr/>
        </p:nvSpPr>
        <p:spPr>
          <a:xfrm>
            <a:off x="457200" y="2788920"/>
            <a:ext cx="185166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27" name="Fact value model weights"/>
          <p:cNvSpPr txBox="1"/>
          <p:nvPr/>
        </p:nvSpPr>
        <p:spPr>
          <a:xfrm>
            <a:off x="64008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Apache‑2.0</a:t>
            </a:r>
            <a:endParaRPr lang="en-US" sz="2400" dirty="0"/>
          </a:p>
        </p:txBody>
      </p:sp>
      <p:sp>
        <p:nvSpPr>
          <p:cNvPr id="28" name="Fact label model weights"/>
          <p:cNvSpPr txBox="1"/>
          <p:nvPr/>
        </p:nvSpPr>
        <p:spPr>
          <a:xfrm>
            <a:off x="64008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model weights</a:t>
            </a:r>
            <a:endParaRPr lang="en-US" sz="1200" dirty="0"/>
          </a:p>
        </p:txBody>
      </p:sp>
      <p:sp>
        <p:nvSpPr>
          <p:cNvPr id="29" name="Fact project code"/>
          <p:cNvSpPr/>
          <p:nvPr/>
        </p:nvSpPr>
        <p:spPr>
          <a:xfrm>
            <a:off x="2583180" y="2788920"/>
            <a:ext cx="185166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30" name="Fact value project code"/>
          <p:cNvSpPr txBox="1"/>
          <p:nvPr/>
        </p:nvSpPr>
        <p:spPr>
          <a:xfrm>
            <a:off x="276606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MIT</a:t>
            </a:r>
            <a:endParaRPr lang="en-US" sz="2400" dirty="0"/>
          </a:p>
        </p:txBody>
      </p:sp>
      <p:sp>
        <p:nvSpPr>
          <p:cNvPr id="31" name="Fact label project code"/>
          <p:cNvSpPr txBox="1"/>
          <p:nvPr/>
        </p:nvSpPr>
        <p:spPr>
          <a:xfrm>
            <a:off x="276606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project code</a:t>
            </a:r>
            <a:endParaRPr lang="en-US" sz="1200" dirty="0"/>
          </a:p>
        </p:txBody>
      </p:sp>
      <p:sp>
        <p:nvSpPr>
          <p:cNvPr id="32" name="Fact cloud calls at run time"/>
          <p:cNvSpPr/>
          <p:nvPr/>
        </p:nvSpPr>
        <p:spPr>
          <a:xfrm>
            <a:off x="4709160" y="2788920"/>
            <a:ext cx="185166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33" name="Fact value cloud calls at run time"/>
          <p:cNvSpPr txBox="1"/>
          <p:nvPr/>
        </p:nvSpPr>
        <p:spPr>
          <a:xfrm>
            <a:off x="489204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</a:t>
            </a:r>
            <a:endParaRPr lang="en-US" sz="2400" dirty="0"/>
          </a:p>
        </p:txBody>
      </p:sp>
      <p:sp>
        <p:nvSpPr>
          <p:cNvPr id="34" name="Fact label cloud calls at run time"/>
          <p:cNvSpPr txBox="1"/>
          <p:nvPr/>
        </p:nvSpPr>
        <p:spPr>
          <a:xfrm>
            <a:off x="489204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cloud calls at run time</a:t>
            </a:r>
            <a:endParaRPr lang="en-US" sz="1200" dirty="0"/>
          </a:p>
        </p:txBody>
      </p:sp>
      <p:sp>
        <p:nvSpPr>
          <p:cNvPr id="35" name="Fact laptop GPU it runs on"/>
          <p:cNvSpPr/>
          <p:nvPr/>
        </p:nvSpPr>
        <p:spPr>
          <a:xfrm>
            <a:off x="6835140" y="2788920"/>
            <a:ext cx="185166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36" name="Fact value laptop GPU it runs on"/>
          <p:cNvSpPr txBox="1"/>
          <p:nvPr/>
        </p:nvSpPr>
        <p:spPr>
          <a:xfrm>
            <a:off x="7018020" y="2926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 GB</a:t>
            </a:r>
            <a:endParaRPr lang="en-US" sz="2400" dirty="0"/>
          </a:p>
        </p:txBody>
      </p:sp>
      <p:sp>
        <p:nvSpPr>
          <p:cNvPr id="37" name="Fact label laptop GPU it runs on"/>
          <p:cNvSpPr txBox="1"/>
          <p:nvPr/>
        </p:nvSpPr>
        <p:spPr>
          <a:xfrm>
            <a:off x="701802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laptop GPU it runs on</a:t>
            </a:r>
            <a:endParaRPr lang="en-US" sz="1200" dirty="0"/>
          </a:p>
        </p:txBody>
      </p:sp>
      <p:sp>
        <p:nvSpPr>
          <p:cNvPr id="38" name="Shared pipeline note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app, the evaluation and the Agent Skill all call the same function, drishti.vlm.describe().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Measured on 30 images: 14 of 15 hazards found</a:t>
            </a:r>
            <a:endParaRPr lang="en-US" sz="2800" dirty="0"/>
          </a:p>
        </p:txBody>
      </p:sp>
      <p:graphicFrame>
        <p:nvGraphicFramePr>
          <p:cNvPr id="3" name="Before and after chart" descr=""/>
          <p:cNvGraphicFramePr/>
          <p:nvPr/>
        </p:nvGraphicFramePr>
        <p:xfrm>
          <a:off x="457200" y="118872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texts read correctly"/>
          <p:cNvSpPr/>
          <p:nvPr/>
        </p:nvSpPr>
        <p:spPr>
          <a:xfrm>
            <a:off x="594360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5" name="Stat value texts read correctly"/>
          <p:cNvSpPr txBox="1"/>
          <p:nvPr/>
        </p:nvSpPr>
        <p:spPr>
          <a:xfrm>
            <a:off x="6126480" y="1463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14 of 15</a:t>
            </a:r>
            <a:endParaRPr lang="en-US" sz="3200" dirty="0"/>
          </a:p>
        </p:txBody>
      </p:sp>
      <p:sp>
        <p:nvSpPr>
          <p:cNvPr id="6" name="Stat label texts read correctly"/>
          <p:cNvSpPr txBox="1"/>
          <p:nvPr/>
        </p:nvSpPr>
        <p:spPr>
          <a:xfrm>
            <a:off x="612648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texts read correctly</a:t>
            </a:r>
            <a:endParaRPr lang="en-US" sz="1200" dirty="0"/>
          </a:p>
        </p:txBody>
      </p:sp>
      <p:sp>
        <p:nvSpPr>
          <p:cNvPr id="7" name="Stat median model time per image"/>
          <p:cNvSpPr/>
          <p:nvPr/>
        </p:nvSpPr>
        <p:spPr>
          <a:xfrm>
            <a:off x="5943600" y="2743200"/>
            <a:ext cx="274320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/>
        </p:spPr>
      </p:sp>
      <p:sp>
        <p:nvSpPr>
          <p:cNvPr id="8" name="Stat value median model time per image"/>
          <p:cNvSpPr txBox="1"/>
          <p:nvPr/>
        </p:nvSpPr>
        <p:spPr>
          <a:xfrm>
            <a:off x="6126480" y="2880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1.5 s</a:t>
            </a:r>
            <a:endParaRPr lang="en-US" sz="3200" dirty="0"/>
          </a:p>
        </p:txBody>
      </p:sp>
      <p:sp>
        <p:nvSpPr>
          <p:cNvPr id="9" name="Stat label median model time per image"/>
          <p:cNvSpPr txBox="1"/>
          <p:nvPr/>
        </p:nvSpPr>
        <p:spPr>
          <a:xfrm>
            <a:off x="612648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median model time per image</a:t>
            </a:r>
            <a:endParaRPr lang="en-US" sz="1200" dirty="0"/>
          </a:p>
        </p:txBody>
      </p:sp>
      <p:sp>
        <p:nvSpPr>
          <p:cNvPr id="10" name="Caveat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Read this as optimistic: the prompt was tuned on these same images, and 3 of the 4 hazard-free scenes still got a warning.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Three things failed on the first real run</a:t>
            </a:r>
            <a:endParaRPr lang="en-US" sz="2800" dirty="0"/>
          </a:p>
        </p:txBody>
      </p:sp>
      <p:sp>
        <p:nvSpPr>
          <p:cNvPr id="3" name="Problem 1"/>
          <p:cNvSpPr/>
          <p:nvPr/>
        </p:nvSpPr>
        <p:spPr>
          <a:xfrm>
            <a:off x="457200" y="1234440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Problem 1 title"/>
          <p:cNvSpPr txBox="1"/>
          <p:nvPr/>
        </p:nvSpPr>
        <p:spPr>
          <a:xfrm>
            <a:off x="64008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model never answered</a:t>
            </a:r>
            <a:endParaRPr lang="en-US" sz="1500" dirty="0"/>
          </a:p>
        </p:txBody>
      </p:sp>
      <p:sp>
        <p:nvSpPr>
          <p:cNvPr id="5" name="Problem 1 detail"/>
          <p:cNvSpPr txBox="1"/>
          <p:nvPr/>
        </p:nvSpPr>
        <p:spPr>
          <a:xfrm>
            <a:off x="64008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default tag was a thinking variant that spent its whole reply reasoning.</a:t>
            </a:r>
            <a:endParaRPr lang="en-US" sz="1200" dirty="0"/>
          </a:p>
        </p:txBody>
      </p:sp>
      <p:sp>
        <p:nvSpPr>
          <p:cNvPr id="6" name="Arrow tile 1"/>
          <p:cNvSpPr/>
          <p:nvPr/>
        </p:nvSpPr>
        <p:spPr>
          <a:xfrm>
            <a:off x="4343400" y="1463040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→</a:t>
            </a:r>
            <a:endParaRPr lang="en-US" sz="1700" dirty="0"/>
          </a:p>
        </p:txBody>
      </p:sp>
      <p:sp>
        <p:nvSpPr>
          <p:cNvPr id="7" name="Fix 1"/>
          <p:cNvSpPr/>
          <p:nvPr/>
        </p:nvSpPr>
        <p:spPr>
          <a:xfrm>
            <a:off x="4983480" y="1234440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8" name="Fix 1 title"/>
          <p:cNvSpPr txBox="1"/>
          <p:nvPr/>
        </p:nvSpPr>
        <p:spPr>
          <a:xfrm>
            <a:off x="516636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Switched to the instruct variant</a:t>
            </a:r>
            <a:endParaRPr lang="en-US" sz="1500" dirty="0"/>
          </a:p>
        </p:txBody>
      </p:sp>
      <p:sp>
        <p:nvSpPr>
          <p:cNvPr id="9" name="Fix 1 detail"/>
          <p:cNvSpPr txBox="1"/>
          <p:nvPr/>
        </p:nvSpPr>
        <p:spPr>
          <a:xfrm>
            <a:off x="516636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The app now detects this and names the model to pull.</a:t>
            </a:r>
            <a:endParaRPr lang="en-US" sz="1200" dirty="0"/>
          </a:p>
        </p:txBody>
      </p:sp>
      <p:sp>
        <p:nvSpPr>
          <p:cNvPr id="10" name="Problem 2"/>
          <p:cNvSpPr/>
          <p:nvPr/>
        </p:nvSpPr>
        <p:spPr>
          <a:xfrm>
            <a:off x="457200" y="2304288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1" name="Problem 2 title"/>
          <p:cNvSpPr txBox="1"/>
          <p:nvPr/>
        </p:nvSpPr>
        <p:spPr>
          <a:xfrm>
            <a:off x="640080" y="2414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It warned about stairs everywhere</a:t>
            </a:r>
            <a:endParaRPr lang="en-US" sz="1500" dirty="0"/>
          </a:p>
        </p:txBody>
      </p:sp>
      <p:sp>
        <p:nvSpPr>
          <p:cNvPr id="12" name="Problem 2 detail"/>
          <p:cNvSpPr txBox="1"/>
          <p:nvPr/>
        </p:nvSpPr>
        <p:spPr>
          <a:xfrm>
            <a:off x="640080" y="2715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It repeated the example hazards from the prompt, even on empty corridors.</a:t>
            </a:r>
            <a:endParaRPr lang="en-US" sz="1200" dirty="0"/>
          </a:p>
        </p:txBody>
      </p:sp>
      <p:sp>
        <p:nvSpPr>
          <p:cNvPr id="13" name="Arrow tile 2"/>
          <p:cNvSpPr/>
          <p:nvPr/>
        </p:nvSpPr>
        <p:spPr>
          <a:xfrm>
            <a:off x="4343400" y="2532888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→</a:t>
            </a:r>
            <a:endParaRPr lang="en-US" sz="1700" dirty="0"/>
          </a:p>
        </p:txBody>
      </p:sp>
      <p:sp>
        <p:nvSpPr>
          <p:cNvPr id="14" name="Fix 2"/>
          <p:cNvSpPr/>
          <p:nvPr/>
        </p:nvSpPr>
        <p:spPr>
          <a:xfrm>
            <a:off x="4983480" y="2304288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5" name="Fix 2 title"/>
          <p:cNvSpPr txBox="1"/>
          <p:nvPr/>
        </p:nvSpPr>
        <p:spPr>
          <a:xfrm>
            <a:off x="5166360" y="2414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List what you see, then pick hazards</a:t>
            </a:r>
            <a:endParaRPr lang="en-US" sz="1500" dirty="0"/>
          </a:p>
        </p:txBody>
      </p:sp>
      <p:sp>
        <p:nvSpPr>
          <p:cNvPr id="16" name="Fix 2 detail"/>
          <p:cNvSpPr txBox="1"/>
          <p:nvPr/>
        </p:nvSpPr>
        <p:spPr>
          <a:xfrm>
            <a:off x="5166360" y="2715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False alarms fell from 31 to 6 on the same images.</a:t>
            </a:r>
            <a:endParaRPr lang="en-US" sz="1200" dirty="0"/>
          </a:p>
        </p:txBody>
      </p:sp>
      <p:sp>
        <p:nvSpPr>
          <p:cNvPr id="17" name="Problem 3"/>
          <p:cNvSpPr/>
          <p:nvPr/>
        </p:nvSpPr>
        <p:spPr>
          <a:xfrm>
            <a:off x="457200" y="3374136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8" name="Problem 3 title"/>
          <p:cNvSpPr txBox="1"/>
          <p:nvPr/>
        </p:nvSpPr>
        <p:spPr>
          <a:xfrm>
            <a:off x="640080" y="3483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Its Hindi was nonsense</a:t>
            </a:r>
            <a:endParaRPr lang="en-US" sz="1500" dirty="0"/>
          </a:p>
        </p:txBody>
      </p:sp>
      <p:sp>
        <p:nvSpPr>
          <p:cNvPr id="19" name="Problem 3 detail"/>
          <p:cNvSpPr txBox="1"/>
          <p:nvPr/>
        </p:nvSpPr>
        <p:spPr>
          <a:xfrm>
            <a:off x="640080" y="37856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2B model cannot translate: wet floor came back as gibberish.</a:t>
            </a:r>
            <a:endParaRPr lang="en-US" sz="1200" dirty="0"/>
          </a:p>
        </p:txBody>
      </p:sp>
      <p:sp>
        <p:nvSpPr>
          <p:cNvPr id="20" name="Arrow tile 3"/>
          <p:cNvSpPr/>
          <p:nvPr/>
        </p:nvSpPr>
        <p:spPr>
          <a:xfrm>
            <a:off x="4343400" y="3602736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→</a:t>
            </a:r>
            <a:endParaRPr lang="en-US" sz="1700" dirty="0"/>
          </a:p>
        </p:txBody>
      </p:sp>
      <p:sp>
        <p:nvSpPr>
          <p:cNvPr id="21" name="Fix 3"/>
          <p:cNvSpPr/>
          <p:nvPr/>
        </p:nvSpPr>
        <p:spPr>
          <a:xfrm>
            <a:off x="4983480" y="3374136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22" name="Fix 3 title"/>
          <p:cNvSpPr txBox="1"/>
          <p:nvPr/>
        </p:nvSpPr>
        <p:spPr>
          <a:xfrm>
            <a:off x="5166360" y="3483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 fixed Hindi glossary</a:t>
            </a:r>
            <a:endParaRPr lang="en-US" sz="1500" dirty="0"/>
          </a:p>
        </p:txBody>
      </p:sp>
      <p:sp>
        <p:nvSpPr>
          <p:cNvPr id="23" name="Fix 3 detail"/>
          <p:cNvSpPr txBox="1"/>
          <p:nvPr/>
        </p:nvSpPr>
        <p:spPr>
          <a:xfrm>
            <a:off x="5166360" y="37856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About 100 common words. Unknown words stay in English.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Honest limits, and what comes next</a:t>
            </a:r>
            <a:endParaRPr lang="en-US" sz="2800" dirty="0"/>
          </a:p>
        </p:txBody>
      </p:sp>
      <p:sp>
        <p:nvSpPr>
          <p:cNvPr id="3" name="Column Not yet"/>
          <p:cNvSpPr/>
          <p:nvPr/>
        </p:nvSpPr>
        <p:spPr>
          <a:xfrm>
            <a:off x="457200" y="123444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4" name="Column Not yet title"/>
          <p:cNvSpPr txBox="1"/>
          <p:nvPr/>
        </p:nvSpPr>
        <p:spPr>
          <a:xfrm>
            <a:off x="73152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Not yet</a:t>
            </a:r>
            <a:endParaRPr lang="en-US" sz="1800" dirty="0"/>
          </a:p>
        </p:txBody>
      </p:sp>
      <p:sp>
        <p:nvSpPr>
          <p:cNvPr id="5" name="Column Not yet list"/>
          <p:cNvSpPr txBox="1"/>
          <p:nvPr/>
        </p:nvSpPr>
        <p:spPr>
          <a:xfrm>
            <a:off x="731520" y="1810512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Over-warns on clear scenes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4 to 5 seconds from key press to speech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Misreads small or curved 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Not a replacement for a cane or a guide</a:t>
            </a:r>
            <a:endParaRPr lang="en-US" sz="1400" dirty="0"/>
          </a:p>
        </p:txBody>
      </p:sp>
      <p:sp>
        <p:nvSpPr>
          <p:cNvPr id="6" name="Column Next"/>
          <p:cNvSpPr/>
          <p:nvPr/>
        </p:nvSpPr>
        <p:spPr>
          <a:xfrm>
            <a:off x="4709160" y="123444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7" name="Column Next title"/>
          <p:cNvSpPr txBox="1"/>
          <p:nvPr/>
        </p:nvSpPr>
        <p:spPr>
          <a:xfrm>
            <a:off x="4983480" y="1389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</a:t>
            </a:r>
            <a:endParaRPr lang="en-US" sz="1800" dirty="0"/>
          </a:p>
        </p:txBody>
      </p:sp>
      <p:sp>
        <p:nvSpPr>
          <p:cNvPr id="8" name="Column Next list"/>
          <p:cNvSpPr txBox="1"/>
          <p:nvPr/>
        </p:nvSpPr>
        <p:spPr>
          <a:xfrm>
            <a:off x="4983480" y="1810512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held-out evaluation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larger multilingual model for real Hindi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Voice input for Find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phone build</a:t>
            </a:r>
            <a:endParaRPr lang="en-US" sz="1400" dirty="0"/>
          </a:p>
        </p:txBody>
      </p:sp>
      <p:sp>
        <p:nvSpPr>
          <p:cNvPr id="9" name="Repository card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10" name="Repository link"/>
          <p:cNvSpPr txBox="1"/>
          <p:nvPr/>
        </p:nvSpPr>
        <p:spPr>
          <a:xfrm>
            <a:off x="68580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github.com/Dakshhhhh-ops/hacktober</a:t>
            </a:r>
            <a:endParaRPr lang="en-US" sz="2200" dirty="0"/>
          </a:p>
        </p:txBody>
      </p:sp>
      <p:sp>
        <p:nvSpPr>
          <p:cNvPr id="11" name="Run command"/>
          <p:cNvSpPr txBox="1"/>
          <p:nvPr/>
        </p:nvSpPr>
        <p:spPr>
          <a:xfrm>
            <a:off x="685800" y="4050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ollama pull qwen3-vl:2b-instruct, then python -m drishti, then press Space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C8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ishtiAI">
  <a:themeElements>
    <a:clrScheme name="DrishtiAI">
      <a:dk1>
        <a:srgbClr val="0B0B0B"/>
      </a:dk1>
      <a:lt1>
        <a:srgbClr val="FFFFFF"/>
      </a:lt1>
      <a:dk2>
        <a:srgbClr val="1F1F1F"/>
      </a:dk2>
      <a:lt2>
        <a:srgbClr val="C8C8C8"/>
      </a:lt2>
      <a:accent1>
        <a:srgbClr val="FFD400"/>
      </a:accent1>
      <a:accent2>
        <a:srgbClr val="FF5A4D"/>
      </a:accent2>
      <a:accent3>
        <a:srgbClr val="7EE787"/>
      </a:accent3>
      <a:accent4>
        <a:srgbClr val="8AB4F8"/>
      </a:accent4>
      <a:accent5>
        <a:srgbClr val="FFE566"/>
      </a:accent5>
      <a:accent6>
        <a:srgbClr val="8A8A8A"/>
      </a:accent6>
      <a:hlink>
        <a:srgbClr val="FFD400"/>
      </a:hlink>
      <a:folHlink>
        <a:srgbClr val="C8C8C8"/>
      </a:folHlink>
    </a:clrScheme>
    <a:fontScheme name="Drishti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DrishtiAI</dc:title>
  <dc:subject>PptxGenJS Presentation</dc:subject>
  <dc:creator>Daksh</dc:creator>
  <cp:lastModifiedBy>Daksh</cp:lastModifiedBy>
  <cp:revision>1</cp:revision>
  <dcterms:created xsi:type="dcterms:W3CDTF">2026-10-11T11:53:16Z</dcterms:created>
  <dcterms:modified xsi:type="dcterms:W3CDTF">2026-10-11T11:53:16Z</dcterms:modified>
</cp:coreProperties>
</file>