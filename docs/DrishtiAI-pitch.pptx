
<file path=[Content_Types].xml><?xml version="1.0" encoding="utf-8"?>
<Types xmlns="http://schemas.openxmlformats.org/package/2006/content-types">
  <Default Extension="jpg" ContentType="image/jp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48D74BAE-7A29-9241-B334-107871AB055A}">
          <p14:sldIdLst>
            <p14:sldId id="256"/>
            <p14:sldId id="257"/>
          </p14:sldIdLst>
        </p14:section>
        <p14:section name="Product" id="{9E899B54-B9E8-5181-42DE-604DE834D96E}">
          <p14:sldIdLst>
            <p14:sldId id="258"/>
            <p14:sldId id="259"/>
          </p14:sldIdLst>
        </p14:section>
        <p14:section name="Evidence" id="{364A6735-38A6-682D-CB5B-B689DE537891}">
          <p14:sldIdLst>
            <p14:sldId id="260"/>
            <p14:sldId id="261"/>
          </p14:sldIdLst>
        </p14:section>
        <p14:section name="Close" id="{D05E25B6-A44C-17AE-E999-3A0F30D7E650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ksh wadhwa" userId="04cf032a23d35f2b" providerId="LiveId" clId="{40ED15CA-B7FC-4858-B3E8-4D2301031031}"/>
    <pc:docChg chg="modSld">
      <pc:chgData name="daksh wadhwa" userId="04cf032a23d35f2b" providerId="LiveId" clId="{40ED15CA-B7FC-4858-B3E8-4D2301031031}" dt="2026-10-11T12:00:34.448" v="14" actId="20577"/>
      <pc:docMkLst>
        <pc:docMk/>
      </pc:docMkLst>
      <pc:sldChg chg="modSp mod">
        <pc:chgData name="daksh wadhwa" userId="04cf032a23d35f2b" providerId="LiveId" clId="{40ED15CA-B7FC-4858-B3E8-4D2301031031}" dt="2026-10-11T12:00:34.448" v="14" actId="20577"/>
        <pc:sldMkLst>
          <pc:docMk/>
          <pc:sldMk cId="0" sldId="256"/>
        </pc:sldMkLst>
        <pc:spChg chg="mod">
          <ac:chgData name="daksh wadhwa" userId="04cf032a23d35f2b" providerId="LiveId" clId="{40ED15CA-B7FC-4858-B3E8-4D2301031031}" dt="2026-10-11T12:00:34.448" v="14" actId="20577"/>
          <ac:spMkLst>
            <pc:docMk/>
            <pc:sldMk cId="0" sldId="256"/>
            <ac:spMk id="4" creationId="{00000000-0000-0000-0000-000000000000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First run</c:v>
                </c:pt>
              </c:strCache>
            </c:strRef>
          </c:tx>
          <c:spPr>
            <a:solidFill>
              <a:srgbClr val="8A8A8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Hazards found (of 15)</c:v>
                </c:pt>
                <c:pt idx="1">
                  <c:v>Missed hazards</c:v>
                </c:pt>
                <c:pt idx="2">
                  <c:v>False alarms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6</c:v>
                </c:pt>
                <c:pt idx="2">
                  <c:v>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C46-4898-A9DB-F9300D832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the prompt fix</c:v>
                </c:pt>
              </c:strCache>
            </c:strRef>
          </c:tx>
          <c:spPr>
            <a:solidFill>
              <a:srgbClr val="FFD40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Hazards found (of 15)</c:v>
                </c:pt>
                <c:pt idx="1">
                  <c:v>Missed hazards</c:v>
                </c:pt>
                <c:pt idx="2">
                  <c:v>False alarms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</c:v>
                </c:pt>
                <c:pt idx="1">
                  <c:v>1</c:v>
                </c:pt>
                <c:pt idx="2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C46-4898-A9DB-F9300D8327A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8C8C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C8C8C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9979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DrishtiAI describes what is in front of a blind or low-vision person. It runs entirely on this laptop: an open-weight vision model, no cloud. Drishti is Hindi for sight. I will show the problem, a live demo, how it works, and what the evaluation found, including what it gets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scene-description apps send every camera frame to a server. That is a privacy problem, it fails without signal, and it costs money per image. The question for today: how far can a small open model on one laptop get?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HERE. Wi-Fi is off. Press Space on a scene with something in the way: it warns first, then describes. Press 2 and hold up a printed label. Press 3, type water bottle, press Enter. Press L to hear the same answer in Hindi. The whole page works from the keyboard.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frame goes to FastAPI on this machine, then to Qwen3-VL through Ollama. The model must return strict JSON. If it does not validate, it is asked once more, and after that the answer is marked as rough: hazards are never invented to fill a gap. A separate speech layer decides what is said, always hazards first. The same function is packaged as an Agent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fixed images: 21 openly licensed photos and 9 rendered text images. Missed hazards are counted on their own because that is the dangerous failure. The first real run was poor: 9 of 15 found and 31 false alarms. After one prompt change it found 14 of 15 with 6 false alarms. Be upfront: I tuned on this same set, so this is optimistic, and it still over-warns on clear scenes. Both result files are in the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worked the first time, and each failure is documented. The plain model tag was a thinking variant that never produced an answer. The model then parroted my own example hazards back at me. And it cannot write Hindi, so Hindi warnings come from a fixed glossary: correct and predictable, but it drops adjectives.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is an experimental aid, not a safety device. It over-warns, it takes four to five seconds end to end, and it misreads small text. Next I would build a held-out test set, try a larger multilingual model for real Hindi, and add voice input. Everything is in the repository: MIT code, an Apache-2.0 model, the evaluation, the tests and the Agent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1325880"/>
            <a:ext cx="4480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457200" y="2331720"/>
            <a:ext cx="42976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B0B0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2"/>
                </a:solidFill>
              </a:rPr>
              <a:t>DrishtiAI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C8C8C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C8C8C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13258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</a:rPr>
              <a:t>DrishtiAI</a:t>
            </a: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457200" y="233172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chemeClr val="bg2"/>
                </a:solidFill>
              </a:rPr>
              <a:t>Offline eyes that speak. An open-weight vision model that warns about hazards first, in English and Hindi.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Best Open-Source AI Project  ·  Hacktoberfest Hack Day Hamirpur x ISTE NITH  ·  Daksh and Adarsh</a:t>
            </a:r>
            <a:endParaRPr lang="en-US" sz="1200" dirty="0"/>
          </a:p>
        </p:txBody>
      </p:sp>
      <p:pic>
        <p:nvPicPr>
          <p:cNvPr id="5" name="App screenshot" descr="The DrishtiAI page showing a camera view and two hazard warnin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685800"/>
            <a:ext cx="3566160" cy="319125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Describing a scene should not need the cloud</a:t>
            </a:r>
            <a:endParaRPr lang="en-US" sz="2800" dirty="0"/>
          </a:p>
        </p:txBody>
      </p:sp>
      <p:sp>
        <p:nvSpPr>
          <p:cNvPr id="3" name="Card Privacy"/>
          <p:cNvSpPr/>
          <p:nvPr/>
        </p:nvSpPr>
        <p:spPr>
          <a:xfrm>
            <a:off x="457200" y="1325880"/>
            <a:ext cx="2560320" cy="2331720"/>
          </a:xfrm>
          <a:prstGeom prst="roundRect">
            <a:avLst>
              <a:gd name="adj" fmla="val 3137"/>
            </a:avLst>
          </a:prstGeom>
          <a:solidFill>
            <a:schemeClr val="tx2"/>
          </a:solidFill>
          <a:ln/>
        </p:spPr>
      </p:sp>
      <p:sp>
        <p:nvSpPr>
          <p:cNvPr id="4" name="Number 01"/>
          <p:cNvSpPr txBox="1"/>
          <p:nvPr/>
        </p:nvSpPr>
        <p:spPr>
          <a:xfrm>
            <a:off x="731520" y="15544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01</a:t>
            </a:r>
            <a:endParaRPr lang="en-US" sz="4000" dirty="0"/>
          </a:p>
        </p:txBody>
      </p:sp>
      <p:sp>
        <p:nvSpPr>
          <p:cNvPr id="5" name="Head Privacy"/>
          <p:cNvSpPr txBox="1"/>
          <p:nvPr/>
        </p:nvSpPr>
        <p:spPr>
          <a:xfrm>
            <a:off x="731520" y="2331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Privacy</a:t>
            </a:r>
            <a:endParaRPr lang="en-US" sz="2000" dirty="0"/>
          </a:p>
        </p:txBody>
      </p:sp>
      <p:sp>
        <p:nvSpPr>
          <p:cNvPr id="6" name="Body Privacy"/>
          <p:cNvSpPr txBox="1"/>
          <p:nvPr/>
        </p:nvSpPr>
        <p:spPr>
          <a:xfrm>
            <a:off x="731520" y="27889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Cloud apps upload every photo: faces, bank letters, prescriptions.</a:t>
            </a:r>
            <a:endParaRPr lang="en-US" sz="1400" dirty="0"/>
          </a:p>
        </p:txBody>
      </p:sp>
      <p:sp>
        <p:nvSpPr>
          <p:cNvPr id="7" name="Card Connectivity"/>
          <p:cNvSpPr/>
          <p:nvPr/>
        </p:nvSpPr>
        <p:spPr>
          <a:xfrm>
            <a:off x="3291840" y="1325880"/>
            <a:ext cx="2560320" cy="2331720"/>
          </a:xfrm>
          <a:prstGeom prst="roundRect">
            <a:avLst>
              <a:gd name="adj" fmla="val 3137"/>
            </a:avLst>
          </a:prstGeom>
          <a:solidFill>
            <a:schemeClr val="tx2"/>
          </a:solidFill>
          <a:ln/>
        </p:spPr>
      </p:sp>
      <p:sp>
        <p:nvSpPr>
          <p:cNvPr id="8" name="Number 02"/>
          <p:cNvSpPr txBox="1"/>
          <p:nvPr/>
        </p:nvSpPr>
        <p:spPr>
          <a:xfrm>
            <a:off x="3566160" y="15544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02</a:t>
            </a:r>
            <a:endParaRPr lang="en-US" sz="4000" dirty="0"/>
          </a:p>
        </p:txBody>
      </p:sp>
      <p:sp>
        <p:nvSpPr>
          <p:cNvPr id="9" name="Head Connectivity"/>
          <p:cNvSpPr txBox="1"/>
          <p:nvPr/>
        </p:nvSpPr>
        <p:spPr>
          <a:xfrm>
            <a:off x="3566160" y="2331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Connectivity</a:t>
            </a:r>
            <a:endParaRPr lang="en-US" sz="2000" dirty="0"/>
          </a:p>
        </p:txBody>
      </p:sp>
      <p:sp>
        <p:nvSpPr>
          <p:cNvPr id="10" name="Body Connectivity"/>
          <p:cNvSpPr txBox="1"/>
          <p:nvPr/>
        </p:nvSpPr>
        <p:spPr>
          <a:xfrm>
            <a:off x="3566160" y="27889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No signal in a hostel basement or a village means no description at all.</a:t>
            </a:r>
            <a:endParaRPr lang="en-US" sz="1400" dirty="0"/>
          </a:p>
        </p:txBody>
      </p:sp>
      <p:sp>
        <p:nvSpPr>
          <p:cNvPr id="11" name="Card Cost"/>
          <p:cNvSpPr/>
          <p:nvPr/>
        </p:nvSpPr>
        <p:spPr>
          <a:xfrm>
            <a:off x="6126480" y="1325880"/>
            <a:ext cx="2560320" cy="2331720"/>
          </a:xfrm>
          <a:prstGeom prst="roundRect">
            <a:avLst>
              <a:gd name="adj" fmla="val 3137"/>
            </a:avLst>
          </a:prstGeom>
          <a:solidFill>
            <a:schemeClr val="tx2"/>
          </a:solidFill>
          <a:ln/>
        </p:spPr>
      </p:sp>
      <p:sp>
        <p:nvSpPr>
          <p:cNvPr id="12" name="Number 03"/>
          <p:cNvSpPr txBox="1"/>
          <p:nvPr/>
        </p:nvSpPr>
        <p:spPr>
          <a:xfrm>
            <a:off x="6400800" y="15544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03</a:t>
            </a:r>
            <a:endParaRPr lang="en-US" sz="4000" dirty="0"/>
          </a:p>
        </p:txBody>
      </p:sp>
      <p:sp>
        <p:nvSpPr>
          <p:cNvPr id="13" name="Head Cost"/>
          <p:cNvSpPr txBox="1"/>
          <p:nvPr/>
        </p:nvSpPr>
        <p:spPr>
          <a:xfrm>
            <a:off x="6400800" y="2331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Cost</a:t>
            </a:r>
            <a:endParaRPr lang="en-US" sz="2000" dirty="0"/>
          </a:p>
        </p:txBody>
      </p:sp>
      <p:sp>
        <p:nvSpPr>
          <p:cNvPr id="14" name="Body Cost"/>
          <p:cNvSpPr txBox="1"/>
          <p:nvPr/>
        </p:nvSpPr>
        <p:spPr>
          <a:xfrm>
            <a:off x="6400800" y="278892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Per-image charges add up for something a person uses all day.</a:t>
            </a:r>
            <a:endParaRPr lang="en-US" sz="1400" dirty="0"/>
          </a:p>
        </p:txBody>
      </p:sp>
      <p:sp>
        <p:nvSpPr>
          <p:cNvPr id="15" name="Answer line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DrishtiAI keeps every frame on the laptop: no upload, no signal needed, no bill.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C8C8C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Three modes, spoken aloud, hazards first</a:t>
            </a:r>
            <a:endParaRPr lang="en-US" sz="2800" dirty="0"/>
          </a:p>
        </p:txBody>
      </p:sp>
      <p:sp>
        <p:nvSpPr>
          <p:cNvPr id="3" name="Key 1"/>
          <p:cNvSpPr/>
          <p:nvPr/>
        </p:nvSpPr>
        <p:spPr>
          <a:xfrm>
            <a:off x="457200" y="1325880"/>
            <a:ext cx="68580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1"/>
                </a:solidFill>
              </a:rPr>
              <a:t>1</a:t>
            </a:r>
            <a:endParaRPr lang="en-US" sz="2600" dirty="0"/>
          </a:p>
        </p:txBody>
      </p:sp>
      <p:sp>
        <p:nvSpPr>
          <p:cNvPr id="4" name="Mode Surroundings"/>
          <p:cNvSpPr txBox="1"/>
          <p:nvPr/>
        </p:nvSpPr>
        <p:spPr>
          <a:xfrm>
            <a:off x="1371600" y="13075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Surroundings</a:t>
            </a:r>
            <a:endParaRPr lang="en-US" sz="2000" dirty="0"/>
          </a:p>
        </p:txBody>
      </p:sp>
      <p:sp>
        <p:nvSpPr>
          <p:cNvPr id="5" name="Mode Surroundings detail"/>
          <p:cNvSpPr txBox="1"/>
          <p:nvPr/>
        </p:nvSpPr>
        <p:spPr>
          <a:xfrm>
            <a:off x="1371600" y="165506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Warns about what is in the way, then gives one line about the scene.</a:t>
            </a:r>
            <a:endParaRPr lang="en-US" sz="1400" dirty="0"/>
          </a:p>
        </p:txBody>
      </p:sp>
      <p:sp>
        <p:nvSpPr>
          <p:cNvPr id="6" name="Key 2"/>
          <p:cNvSpPr/>
          <p:nvPr/>
        </p:nvSpPr>
        <p:spPr>
          <a:xfrm>
            <a:off x="457200" y="2377440"/>
            <a:ext cx="68580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1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Mode Read"/>
          <p:cNvSpPr txBox="1"/>
          <p:nvPr/>
        </p:nvSpPr>
        <p:spPr>
          <a:xfrm>
            <a:off x="1371600" y="23591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Read</a:t>
            </a:r>
            <a:endParaRPr lang="en-US" sz="2000" dirty="0"/>
          </a:p>
        </p:txBody>
      </p:sp>
      <p:sp>
        <p:nvSpPr>
          <p:cNvPr id="8" name="Mode Read detail"/>
          <p:cNvSpPr txBox="1"/>
          <p:nvPr/>
        </p:nvSpPr>
        <p:spPr>
          <a:xfrm>
            <a:off x="1371600" y="270662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Reads signs, labels and packaging, exactly as written.</a:t>
            </a:r>
            <a:endParaRPr lang="en-US" sz="1400" dirty="0"/>
          </a:p>
        </p:txBody>
      </p:sp>
      <p:sp>
        <p:nvSpPr>
          <p:cNvPr id="9" name="Key 3"/>
          <p:cNvSpPr/>
          <p:nvPr/>
        </p:nvSpPr>
        <p:spPr>
          <a:xfrm>
            <a:off x="457200" y="3429000"/>
            <a:ext cx="68580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tx1"/>
                </a:solidFill>
              </a:rPr>
              <a:t>3</a:t>
            </a:r>
            <a:endParaRPr lang="en-US" sz="2600" dirty="0"/>
          </a:p>
        </p:txBody>
      </p:sp>
      <p:sp>
        <p:nvSpPr>
          <p:cNvPr id="10" name="Mode Find"/>
          <p:cNvSpPr txBox="1"/>
          <p:nvPr/>
        </p:nvSpPr>
        <p:spPr>
          <a:xfrm>
            <a:off x="1371600" y="34107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Find</a:t>
            </a:r>
            <a:endParaRPr lang="en-US" sz="2000" dirty="0"/>
          </a:p>
        </p:txBody>
      </p:sp>
      <p:sp>
        <p:nvSpPr>
          <p:cNvPr id="11" name="Mode Find detail"/>
          <p:cNvSpPr txBox="1"/>
          <p:nvPr/>
        </p:nvSpPr>
        <p:spPr>
          <a:xfrm>
            <a:off x="1371600" y="375818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</a:rPr>
              <a:t>You name an object. It answers found, not found or uncertain.</a:t>
            </a:r>
            <a:endParaRPr lang="en-US" sz="1400" dirty="0"/>
          </a:p>
        </p:txBody>
      </p:sp>
      <p:pic>
        <p:nvPicPr>
          <p:cNvPr id="12" name="Warnings in English" descr="Two warning cards in English: open sewer manhole ahead, traffic cone on the r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71600"/>
            <a:ext cx="3840480" cy="1325880"/>
          </a:xfrm>
          <a:prstGeom prst="rect">
            <a:avLst/>
          </a:prstGeom>
        </p:spPr>
      </p:pic>
      <p:pic>
        <p:nvPicPr>
          <p:cNvPr id="13" name="Warnings in Hindi" descr="The same two warning cards in Hindi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971800"/>
            <a:ext cx="3840480" cy="1325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C8C8C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One local pipeline, open at every step</a:t>
            </a:r>
            <a:endParaRPr lang="en-US" sz="2800" dirty="0"/>
          </a:p>
        </p:txBody>
      </p:sp>
      <p:sp>
        <p:nvSpPr>
          <p:cNvPr id="3" name="Step Webcam"/>
          <p:cNvSpPr/>
          <p:nvPr/>
        </p:nvSpPr>
        <p:spPr>
          <a:xfrm>
            <a:off x="457200" y="1325880"/>
            <a:ext cx="118872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4" name="Step Webcam name"/>
          <p:cNvSpPr txBox="1"/>
          <p:nvPr/>
        </p:nvSpPr>
        <p:spPr>
          <a:xfrm>
            <a:off x="548640" y="14630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Webcam</a:t>
            </a:r>
            <a:endParaRPr lang="en-US" sz="1400" dirty="0"/>
          </a:p>
        </p:txBody>
      </p:sp>
      <p:sp>
        <p:nvSpPr>
          <p:cNvPr id="5" name="Step Webcam detail"/>
          <p:cNvSpPr txBox="1"/>
          <p:nvPr/>
        </p:nvSpPr>
        <p:spPr>
          <a:xfrm>
            <a:off x="548640" y="1901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one frame, never saved</a:t>
            </a:r>
            <a:endParaRPr lang="en-US" sz="1100" dirty="0"/>
          </a:p>
        </p:txBody>
      </p:sp>
      <p:sp>
        <p:nvSpPr>
          <p:cNvPr id="6" name="Arrow 1"/>
          <p:cNvSpPr/>
          <p:nvPr/>
        </p:nvSpPr>
        <p:spPr>
          <a:xfrm>
            <a:off x="1673352" y="1897380"/>
            <a:ext cx="164592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7" name="Step FastAPI"/>
          <p:cNvSpPr/>
          <p:nvPr/>
        </p:nvSpPr>
        <p:spPr>
          <a:xfrm>
            <a:off x="1865376" y="1325880"/>
            <a:ext cx="118872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8" name="Step FastAPI name"/>
          <p:cNvSpPr txBox="1"/>
          <p:nvPr/>
        </p:nvSpPr>
        <p:spPr>
          <a:xfrm>
            <a:off x="1956816" y="14630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FastAPI</a:t>
            </a:r>
            <a:endParaRPr lang="en-US" sz="1400" dirty="0"/>
          </a:p>
        </p:txBody>
      </p:sp>
      <p:sp>
        <p:nvSpPr>
          <p:cNvPr id="9" name="Step FastAPI detail"/>
          <p:cNvSpPr txBox="1"/>
          <p:nvPr/>
        </p:nvSpPr>
        <p:spPr>
          <a:xfrm>
            <a:off x="1956816" y="1901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on 127.0.0.1 only</a:t>
            </a:r>
            <a:endParaRPr lang="en-US" sz="1100" dirty="0"/>
          </a:p>
        </p:txBody>
      </p:sp>
      <p:sp>
        <p:nvSpPr>
          <p:cNvPr id="10" name="Arrow 2"/>
          <p:cNvSpPr/>
          <p:nvPr/>
        </p:nvSpPr>
        <p:spPr>
          <a:xfrm>
            <a:off x="3081528" y="1897380"/>
            <a:ext cx="164592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1" name="Step Qwen3-VL 2B"/>
          <p:cNvSpPr/>
          <p:nvPr/>
        </p:nvSpPr>
        <p:spPr>
          <a:xfrm>
            <a:off x="3273552" y="1325880"/>
            <a:ext cx="1188720" cy="1143000"/>
          </a:xfrm>
          <a:prstGeom prst="roundRect">
            <a:avLst>
              <a:gd name="adj" fmla="val 6400"/>
            </a:avLst>
          </a:prstGeom>
          <a:solidFill>
            <a:schemeClr val="accent1"/>
          </a:solidFill>
          <a:ln/>
        </p:spPr>
      </p:sp>
      <p:sp>
        <p:nvSpPr>
          <p:cNvPr id="12" name="Step Qwen3-VL 2B name"/>
          <p:cNvSpPr txBox="1"/>
          <p:nvPr/>
        </p:nvSpPr>
        <p:spPr>
          <a:xfrm>
            <a:off x="3364992" y="14630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</a:rPr>
              <a:t>Qwen3-VL 2B</a:t>
            </a:r>
            <a:endParaRPr lang="en-US" sz="1400" dirty="0"/>
          </a:p>
        </p:txBody>
      </p:sp>
      <p:sp>
        <p:nvSpPr>
          <p:cNvPr id="13" name="Step Qwen3-VL 2B detail"/>
          <p:cNvSpPr txBox="1"/>
          <p:nvPr/>
        </p:nvSpPr>
        <p:spPr>
          <a:xfrm>
            <a:off x="3364992" y="1901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1"/>
                </a:solidFill>
              </a:rPr>
              <a:t>open weights, via Ollama</a:t>
            </a:r>
            <a:endParaRPr lang="en-US" sz="1100" dirty="0"/>
          </a:p>
        </p:txBody>
      </p:sp>
      <p:sp>
        <p:nvSpPr>
          <p:cNvPr id="14" name="Arrow 3"/>
          <p:cNvSpPr/>
          <p:nvPr/>
        </p:nvSpPr>
        <p:spPr>
          <a:xfrm>
            <a:off x="4489704" y="1897380"/>
            <a:ext cx="164592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5" name="Step Validation"/>
          <p:cNvSpPr/>
          <p:nvPr/>
        </p:nvSpPr>
        <p:spPr>
          <a:xfrm>
            <a:off x="4681728" y="1325880"/>
            <a:ext cx="118872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16" name="Step Validation name"/>
          <p:cNvSpPr txBox="1"/>
          <p:nvPr/>
        </p:nvSpPr>
        <p:spPr>
          <a:xfrm>
            <a:off x="4773168" y="14630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Validation</a:t>
            </a:r>
            <a:endParaRPr lang="en-US" sz="1400" dirty="0"/>
          </a:p>
        </p:txBody>
      </p:sp>
      <p:sp>
        <p:nvSpPr>
          <p:cNvPr id="17" name="Step Validation detail"/>
          <p:cNvSpPr txBox="1"/>
          <p:nvPr/>
        </p:nvSpPr>
        <p:spPr>
          <a:xfrm>
            <a:off x="4773168" y="1901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strict JSON, one retry</a:t>
            </a:r>
            <a:endParaRPr lang="en-US" sz="1100" dirty="0"/>
          </a:p>
        </p:txBody>
      </p:sp>
      <p:sp>
        <p:nvSpPr>
          <p:cNvPr id="18" name="Arrow 4"/>
          <p:cNvSpPr/>
          <p:nvPr/>
        </p:nvSpPr>
        <p:spPr>
          <a:xfrm>
            <a:off x="5897880" y="1897380"/>
            <a:ext cx="164592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9" name="Step Speech rules"/>
          <p:cNvSpPr/>
          <p:nvPr/>
        </p:nvSpPr>
        <p:spPr>
          <a:xfrm>
            <a:off x="6089904" y="1325880"/>
            <a:ext cx="118872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20" name="Step Speech rules name"/>
          <p:cNvSpPr txBox="1"/>
          <p:nvPr/>
        </p:nvSpPr>
        <p:spPr>
          <a:xfrm>
            <a:off x="6181344" y="14630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Speech rules</a:t>
            </a:r>
            <a:endParaRPr lang="en-US" sz="1400" dirty="0"/>
          </a:p>
        </p:txBody>
      </p:sp>
      <p:sp>
        <p:nvSpPr>
          <p:cNvPr id="21" name="Step Speech rules detail"/>
          <p:cNvSpPr txBox="1"/>
          <p:nvPr/>
        </p:nvSpPr>
        <p:spPr>
          <a:xfrm>
            <a:off x="6181344" y="1901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hazards first, nearest first</a:t>
            </a:r>
            <a:endParaRPr lang="en-US" sz="1100" dirty="0"/>
          </a:p>
        </p:txBody>
      </p:sp>
      <p:sp>
        <p:nvSpPr>
          <p:cNvPr id="22" name="Arrow 5"/>
          <p:cNvSpPr/>
          <p:nvPr/>
        </p:nvSpPr>
        <p:spPr>
          <a:xfrm>
            <a:off x="7306056" y="1897380"/>
            <a:ext cx="164592" cy="0"/>
          </a:xfrm>
          <a:prstGeom prst="line">
            <a:avLst/>
          </a:prstGeom>
          <a:noFill/>
          <a:ln w="19050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3" name="Step Piper voice"/>
          <p:cNvSpPr/>
          <p:nvPr/>
        </p:nvSpPr>
        <p:spPr>
          <a:xfrm>
            <a:off x="7498080" y="1325880"/>
            <a:ext cx="1188720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/>
        </p:spPr>
      </p:sp>
      <p:sp>
        <p:nvSpPr>
          <p:cNvPr id="24" name="Step Piper voice name"/>
          <p:cNvSpPr txBox="1"/>
          <p:nvPr/>
        </p:nvSpPr>
        <p:spPr>
          <a:xfrm>
            <a:off x="7589520" y="146304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/>
                </a:solidFill>
              </a:rPr>
              <a:t>Piper voice</a:t>
            </a:r>
            <a:endParaRPr lang="en-US" sz="1400" dirty="0"/>
          </a:p>
        </p:txBody>
      </p:sp>
      <p:sp>
        <p:nvSpPr>
          <p:cNvPr id="25" name="Step Piper voice detail"/>
          <p:cNvSpPr txBox="1"/>
          <p:nvPr/>
        </p:nvSpPr>
        <p:spPr>
          <a:xfrm>
            <a:off x="7589520" y="1901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bg2"/>
                </a:solidFill>
              </a:rPr>
              <a:t>offline, EN and HI</a:t>
            </a:r>
            <a:endParaRPr lang="en-US" sz="1100" dirty="0"/>
          </a:p>
        </p:txBody>
      </p:sp>
      <p:sp>
        <p:nvSpPr>
          <p:cNvPr id="26" name="Fact model weights"/>
          <p:cNvSpPr/>
          <p:nvPr/>
        </p:nvSpPr>
        <p:spPr>
          <a:xfrm>
            <a:off x="457200" y="2788920"/>
            <a:ext cx="185166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27" name="Fact value model weights"/>
          <p:cNvSpPr txBox="1"/>
          <p:nvPr/>
        </p:nvSpPr>
        <p:spPr>
          <a:xfrm>
            <a:off x="64008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Apache‑2.0</a:t>
            </a:r>
            <a:endParaRPr lang="en-US" sz="2400" dirty="0"/>
          </a:p>
        </p:txBody>
      </p:sp>
      <p:sp>
        <p:nvSpPr>
          <p:cNvPr id="28" name="Fact label model weights"/>
          <p:cNvSpPr txBox="1"/>
          <p:nvPr/>
        </p:nvSpPr>
        <p:spPr>
          <a:xfrm>
            <a:off x="640080" y="3520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model weights</a:t>
            </a:r>
            <a:endParaRPr lang="en-US" sz="1200" dirty="0"/>
          </a:p>
        </p:txBody>
      </p:sp>
      <p:sp>
        <p:nvSpPr>
          <p:cNvPr id="29" name="Fact project code"/>
          <p:cNvSpPr/>
          <p:nvPr/>
        </p:nvSpPr>
        <p:spPr>
          <a:xfrm>
            <a:off x="2583180" y="2788920"/>
            <a:ext cx="185166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30" name="Fact value project code"/>
          <p:cNvSpPr txBox="1"/>
          <p:nvPr/>
        </p:nvSpPr>
        <p:spPr>
          <a:xfrm>
            <a:off x="276606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MIT</a:t>
            </a:r>
            <a:endParaRPr lang="en-US" sz="2400" dirty="0"/>
          </a:p>
        </p:txBody>
      </p:sp>
      <p:sp>
        <p:nvSpPr>
          <p:cNvPr id="31" name="Fact label project code"/>
          <p:cNvSpPr txBox="1"/>
          <p:nvPr/>
        </p:nvSpPr>
        <p:spPr>
          <a:xfrm>
            <a:off x="2766060" y="3520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project code</a:t>
            </a:r>
            <a:endParaRPr lang="en-US" sz="1200" dirty="0"/>
          </a:p>
        </p:txBody>
      </p:sp>
      <p:sp>
        <p:nvSpPr>
          <p:cNvPr id="32" name="Fact cloud calls at run time"/>
          <p:cNvSpPr/>
          <p:nvPr/>
        </p:nvSpPr>
        <p:spPr>
          <a:xfrm>
            <a:off x="4709160" y="2788920"/>
            <a:ext cx="185166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33" name="Fact value cloud calls at run time"/>
          <p:cNvSpPr txBox="1"/>
          <p:nvPr/>
        </p:nvSpPr>
        <p:spPr>
          <a:xfrm>
            <a:off x="489204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0</a:t>
            </a:r>
            <a:endParaRPr lang="en-US" sz="2400" dirty="0"/>
          </a:p>
        </p:txBody>
      </p:sp>
      <p:sp>
        <p:nvSpPr>
          <p:cNvPr id="34" name="Fact label cloud calls at run time"/>
          <p:cNvSpPr txBox="1"/>
          <p:nvPr/>
        </p:nvSpPr>
        <p:spPr>
          <a:xfrm>
            <a:off x="4892040" y="3520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cloud calls at run time</a:t>
            </a:r>
            <a:endParaRPr lang="en-US" sz="1200" dirty="0"/>
          </a:p>
        </p:txBody>
      </p:sp>
      <p:sp>
        <p:nvSpPr>
          <p:cNvPr id="35" name="Fact laptop GPU it runs on"/>
          <p:cNvSpPr/>
          <p:nvPr/>
        </p:nvSpPr>
        <p:spPr>
          <a:xfrm>
            <a:off x="6835140" y="2788920"/>
            <a:ext cx="185166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36" name="Fact value laptop GPU it runs on"/>
          <p:cNvSpPr txBox="1"/>
          <p:nvPr/>
        </p:nvSpPr>
        <p:spPr>
          <a:xfrm>
            <a:off x="701802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6 GB</a:t>
            </a:r>
            <a:endParaRPr lang="en-US" sz="2400" dirty="0"/>
          </a:p>
        </p:txBody>
      </p:sp>
      <p:sp>
        <p:nvSpPr>
          <p:cNvPr id="37" name="Fact label laptop GPU it runs on"/>
          <p:cNvSpPr txBox="1"/>
          <p:nvPr/>
        </p:nvSpPr>
        <p:spPr>
          <a:xfrm>
            <a:off x="7018020" y="35204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laptop GPU it runs on</a:t>
            </a:r>
            <a:endParaRPr lang="en-US" sz="1200" dirty="0"/>
          </a:p>
        </p:txBody>
      </p:sp>
      <p:sp>
        <p:nvSpPr>
          <p:cNvPr id="38" name="Shared pipeline note"/>
          <p:cNvSpPr txBox="1"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The app, the evaluation and the Agent Skill all call the same function, drishti.vlm.describe().</a:t>
            </a:r>
            <a:endParaRPr lang="en-US" sz="12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C8C8C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Measured on 30 images: 14 of 15 hazards found</a:t>
            </a:r>
            <a:endParaRPr lang="en-US" sz="2800" dirty="0"/>
          </a:p>
        </p:txBody>
      </p:sp>
      <p:graphicFrame>
        <p:nvGraphicFramePr>
          <p:cNvPr id="3" name="Before and after chart"/>
          <p:cNvGraphicFramePr/>
          <p:nvPr/>
        </p:nvGraphicFramePr>
        <p:xfrm>
          <a:off x="457200" y="1188720"/>
          <a:ext cx="521208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tat texts read correctly"/>
          <p:cNvSpPr/>
          <p:nvPr/>
        </p:nvSpPr>
        <p:spPr>
          <a:xfrm>
            <a:off x="5943600" y="132588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5" name="Stat value texts read correctly"/>
          <p:cNvSpPr txBox="1"/>
          <p:nvPr/>
        </p:nvSpPr>
        <p:spPr>
          <a:xfrm>
            <a:off x="6126480" y="1463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14 of 15</a:t>
            </a:r>
            <a:endParaRPr lang="en-US" sz="3200" dirty="0"/>
          </a:p>
        </p:txBody>
      </p:sp>
      <p:sp>
        <p:nvSpPr>
          <p:cNvPr id="6" name="Stat label texts read correctly"/>
          <p:cNvSpPr txBox="1"/>
          <p:nvPr/>
        </p:nvSpPr>
        <p:spPr>
          <a:xfrm>
            <a:off x="6126480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texts read correctly</a:t>
            </a:r>
            <a:endParaRPr lang="en-US" sz="1200" dirty="0"/>
          </a:p>
        </p:txBody>
      </p:sp>
      <p:sp>
        <p:nvSpPr>
          <p:cNvPr id="7" name="Stat median model time per image"/>
          <p:cNvSpPr/>
          <p:nvPr/>
        </p:nvSpPr>
        <p:spPr>
          <a:xfrm>
            <a:off x="5943600" y="274320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8" name="Stat value median model time per image"/>
          <p:cNvSpPr txBox="1"/>
          <p:nvPr/>
        </p:nvSpPr>
        <p:spPr>
          <a:xfrm>
            <a:off x="6126480" y="288036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1.5 s</a:t>
            </a:r>
            <a:endParaRPr lang="en-US" sz="3200" dirty="0"/>
          </a:p>
        </p:txBody>
      </p:sp>
      <p:sp>
        <p:nvSpPr>
          <p:cNvPr id="9" name="Stat label median model time per image"/>
          <p:cNvSpPr txBox="1"/>
          <p:nvPr/>
        </p:nvSpPr>
        <p:spPr>
          <a:xfrm>
            <a:off x="6126480" y="3520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median model time per image</a:t>
            </a:r>
            <a:endParaRPr lang="en-US" sz="1200" dirty="0"/>
          </a:p>
        </p:txBody>
      </p:sp>
      <p:sp>
        <p:nvSpPr>
          <p:cNvPr id="10" name="Caveat"/>
          <p:cNvSpPr txBox="1"/>
          <p:nvPr/>
        </p:nvSpPr>
        <p:spPr>
          <a:xfrm>
            <a:off x="457200" y="422452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Read this as optimistic: the prompt was tuned on these same images, and 3 of the 4 hazard-free scenes still got a warning.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C8C8C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Three things failed on the first real run</a:t>
            </a:r>
            <a:endParaRPr lang="en-US" sz="2800" dirty="0"/>
          </a:p>
        </p:txBody>
      </p:sp>
      <p:sp>
        <p:nvSpPr>
          <p:cNvPr id="3" name="Problem 1"/>
          <p:cNvSpPr/>
          <p:nvPr/>
        </p:nvSpPr>
        <p:spPr>
          <a:xfrm>
            <a:off x="457200" y="1234440"/>
            <a:ext cx="370332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4" name="Problem 1 title"/>
          <p:cNvSpPr txBox="1"/>
          <p:nvPr/>
        </p:nvSpPr>
        <p:spPr>
          <a:xfrm>
            <a:off x="640080" y="13441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The model never answered</a:t>
            </a:r>
            <a:endParaRPr lang="en-US" sz="1500" dirty="0"/>
          </a:p>
        </p:txBody>
      </p:sp>
      <p:sp>
        <p:nvSpPr>
          <p:cNvPr id="5" name="Problem 1 detail"/>
          <p:cNvSpPr txBox="1"/>
          <p:nvPr/>
        </p:nvSpPr>
        <p:spPr>
          <a:xfrm>
            <a:off x="64008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The default tag was a thinking variant that spent its whole reply reasoning.</a:t>
            </a:r>
            <a:endParaRPr lang="en-US" sz="1200" dirty="0"/>
          </a:p>
        </p:txBody>
      </p:sp>
      <p:sp>
        <p:nvSpPr>
          <p:cNvPr id="6" name="Arrow tile 1"/>
          <p:cNvSpPr/>
          <p:nvPr/>
        </p:nvSpPr>
        <p:spPr>
          <a:xfrm>
            <a:off x="4343400" y="1463040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1"/>
                </a:solidFill>
              </a:rPr>
              <a:t>→</a:t>
            </a:r>
            <a:endParaRPr lang="en-US" sz="1700" dirty="0"/>
          </a:p>
        </p:txBody>
      </p:sp>
      <p:sp>
        <p:nvSpPr>
          <p:cNvPr id="7" name="Fix 1"/>
          <p:cNvSpPr/>
          <p:nvPr/>
        </p:nvSpPr>
        <p:spPr>
          <a:xfrm>
            <a:off x="4983480" y="1234440"/>
            <a:ext cx="370332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8" name="Fix 1 title"/>
          <p:cNvSpPr txBox="1"/>
          <p:nvPr/>
        </p:nvSpPr>
        <p:spPr>
          <a:xfrm>
            <a:off x="5166360" y="13441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Switched to the instruct variant</a:t>
            </a:r>
            <a:endParaRPr lang="en-US" sz="1500" dirty="0"/>
          </a:p>
        </p:txBody>
      </p:sp>
      <p:sp>
        <p:nvSpPr>
          <p:cNvPr id="9" name="Fix 1 detail"/>
          <p:cNvSpPr txBox="1"/>
          <p:nvPr/>
        </p:nvSpPr>
        <p:spPr>
          <a:xfrm>
            <a:off x="516636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The app now detects this and names the model to pull.</a:t>
            </a:r>
            <a:endParaRPr lang="en-US" sz="1200" dirty="0"/>
          </a:p>
        </p:txBody>
      </p:sp>
      <p:sp>
        <p:nvSpPr>
          <p:cNvPr id="10" name="Problem 2"/>
          <p:cNvSpPr/>
          <p:nvPr/>
        </p:nvSpPr>
        <p:spPr>
          <a:xfrm>
            <a:off x="457200" y="2304288"/>
            <a:ext cx="370332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1" name="Problem 2 title"/>
          <p:cNvSpPr txBox="1"/>
          <p:nvPr/>
        </p:nvSpPr>
        <p:spPr>
          <a:xfrm>
            <a:off x="640080" y="24140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It warned about stairs everywhere</a:t>
            </a:r>
            <a:endParaRPr lang="en-US" sz="1500" dirty="0"/>
          </a:p>
        </p:txBody>
      </p:sp>
      <p:sp>
        <p:nvSpPr>
          <p:cNvPr id="12" name="Problem 2 detail"/>
          <p:cNvSpPr txBox="1"/>
          <p:nvPr/>
        </p:nvSpPr>
        <p:spPr>
          <a:xfrm>
            <a:off x="640080" y="27157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It repeated the example hazards from the prompt, even on empty corridors.</a:t>
            </a:r>
            <a:endParaRPr lang="en-US" sz="1200" dirty="0"/>
          </a:p>
        </p:txBody>
      </p:sp>
      <p:sp>
        <p:nvSpPr>
          <p:cNvPr id="13" name="Arrow tile 2"/>
          <p:cNvSpPr/>
          <p:nvPr/>
        </p:nvSpPr>
        <p:spPr>
          <a:xfrm>
            <a:off x="4343400" y="2532888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1"/>
                </a:solidFill>
              </a:rPr>
              <a:t>→</a:t>
            </a:r>
            <a:endParaRPr lang="en-US" sz="1700" dirty="0"/>
          </a:p>
        </p:txBody>
      </p:sp>
      <p:sp>
        <p:nvSpPr>
          <p:cNvPr id="14" name="Fix 2"/>
          <p:cNvSpPr/>
          <p:nvPr/>
        </p:nvSpPr>
        <p:spPr>
          <a:xfrm>
            <a:off x="4983480" y="2304288"/>
            <a:ext cx="370332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5" name="Fix 2 title"/>
          <p:cNvSpPr txBox="1"/>
          <p:nvPr/>
        </p:nvSpPr>
        <p:spPr>
          <a:xfrm>
            <a:off x="5166360" y="24140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List what you see, then pick hazards</a:t>
            </a:r>
            <a:endParaRPr lang="en-US" sz="1500" dirty="0"/>
          </a:p>
        </p:txBody>
      </p:sp>
      <p:sp>
        <p:nvSpPr>
          <p:cNvPr id="16" name="Fix 2 detail"/>
          <p:cNvSpPr txBox="1"/>
          <p:nvPr/>
        </p:nvSpPr>
        <p:spPr>
          <a:xfrm>
            <a:off x="5166360" y="27157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False alarms fell from 31 to 6 on the same images.</a:t>
            </a:r>
            <a:endParaRPr lang="en-US" sz="1200" dirty="0"/>
          </a:p>
        </p:txBody>
      </p:sp>
      <p:sp>
        <p:nvSpPr>
          <p:cNvPr id="17" name="Problem 3"/>
          <p:cNvSpPr/>
          <p:nvPr/>
        </p:nvSpPr>
        <p:spPr>
          <a:xfrm>
            <a:off x="457200" y="3374136"/>
            <a:ext cx="370332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8" name="Problem 3 title"/>
          <p:cNvSpPr txBox="1"/>
          <p:nvPr/>
        </p:nvSpPr>
        <p:spPr>
          <a:xfrm>
            <a:off x="640080" y="34838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Its Hindi was nonsense</a:t>
            </a:r>
            <a:endParaRPr lang="en-US" sz="1500" dirty="0"/>
          </a:p>
        </p:txBody>
      </p:sp>
      <p:sp>
        <p:nvSpPr>
          <p:cNvPr id="19" name="Problem 3 detail"/>
          <p:cNvSpPr txBox="1"/>
          <p:nvPr/>
        </p:nvSpPr>
        <p:spPr>
          <a:xfrm>
            <a:off x="640080" y="378561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A 2B model cannot translate: wet floor came back as gibberish.</a:t>
            </a:r>
            <a:endParaRPr lang="en-US" sz="1200" dirty="0"/>
          </a:p>
        </p:txBody>
      </p:sp>
      <p:sp>
        <p:nvSpPr>
          <p:cNvPr id="20" name="Arrow tile 3"/>
          <p:cNvSpPr/>
          <p:nvPr/>
        </p:nvSpPr>
        <p:spPr>
          <a:xfrm>
            <a:off x="4343400" y="3602736"/>
            <a:ext cx="45720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chemeClr val="tx1"/>
                </a:solidFill>
              </a:rPr>
              <a:t>→</a:t>
            </a:r>
            <a:endParaRPr lang="en-US" sz="1700" dirty="0"/>
          </a:p>
        </p:txBody>
      </p:sp>
      <p:sp>
        <p:nvSpPr>
          <p:cNvPr id="21" name="Fix 3"/>
          <p:cNvSpPr/>
          <p:nvPr/>
        </p:nvSpPr>
        <p:spPr>
          <a:xfrm>
            <a:off x="4983480" y="3374136"/>
            <a:ext cx="3703320" cy="9144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22" name="Fix 3 title"/>
          <p:cNvSpPr txBox="1"/>
          <p:nvPr/>
        </p:nvSpPr>
        <p:spPr>
          <a:xfrm>
            <a:off x="5166360" y="34838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 fixed Hindi glossary</a:t>
            </a:r>
            <a:endParaRPr lang="en-US" sz="1500" dirty="0"/>
          </a:p>
        </p:txBody>
      </p:sp>
      <p:sp>
        <p:nvSpPr>
          <p:cNvPr id="23" name="Fix 3 detail"/>
          <p:cNvSpPr txBox="1"/>
          <p:nvPr/>
        </p:nvSpPr>
        <p:spPr>
          <a:xfrm>
            <a:off x="5166360" y="378561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bg2"/>
                </a:solidFill>
              </a:rPr>
              <a:t>About 100 common words. Unknown words stay in English.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C8C8C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Honest limits, and what comes next</a:t>
            </a:r>
            <a:endParaRPr lang="en-US" sz="2800" dirty="0"/>
          </a:p>
        </p:txBody>
      </p:sp>
      <p:sp>
        <p:nvSpPr>
          <p:cNvPr id="3" name="Column Not yet"/>
          <p:cNvSpPr/>
          <p:nvPr/>
        </p:nvSpPr>
        <p:spPr>
          <a:xfrm>
            <a:off x="457200" y="1234440"/>
            <a:ext cx="3977640" cy="205740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/>
        </p:spPr>
      </p:sp>
      <p:sp>
        <p:nvSpPr>
          <p:cNvPr id="4" name="Column Not yet title"/>
          <p:cNvSpPr txBox="1"/>
          <p:nvPr/>
        </p:nvSpPr>
        <p:spPr>
          <a:xfrm>
            <a:off x="731520" y="138988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Not yet</a:t>
            </a:r>
            <a:endParaRPr lang="en-US" sz="1800" dirty="0"/>
          </a:p>
        </p:txBody>
      </p:sp>
      <p:sp>
        <p:nvSpPr>
          <p:cNvPr id="5" name="Column Not yet list"/>
          <p:cNvSpPr txBox="1"/>
          <p:nvPr/>
        </p:nvSpPr>
        <p:spPr>
          <a:xfrm>
            <a:off x="731520" y="1810512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Over-warns on clear scenes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4 to 5 seconds from key press to speech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Misreads small or curved text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Not a replacement for a cane or a guide</a:t>
            </a:r>
            <a:endParaRPr lang="en-US" sz="1400" dirty="0"/>
          </a:p>
        </p:txBody>
      </p:sp>
      <p:sp>
        <p:nvSpPr>
          <p:cNvPr id="6" name="Column Next"/>
          <p:cNvSpPr/>
          <p:nvPr/>
        </p:nvSpPr>
        <p:spPr>
          <a:xfrm>
            <a:off x="4709160" y="1234440"/>
            <a:ext cx="3977640" cy="205740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/>
        </p:spPr>
      </p:sp>
      <p:sp>
        <p:nvSpPr>
          <p:cNvPr id="7" name="Column Next title"/>
          <p:cNvSpPr txBox="1"/>
          <p:nvPr/>
        </p:nvSpPr>
        <p:spPr>
          <a:xfrm>
            <a:off x="4983480" y="138988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Next</a:t>
            </a:r>
            <a:endParaRPr lang="en-US" sz="1800" dirty="0"/>
          </a:p>
        </p:txBody>
      </p:sp>
      <p:sp>
        <p:nvSpPr>
          <p:cNvPr id="8" name="Column Next list"/>
          <p:cNvSpPr txBox="1"/>
          <p:nvPr/>
        </p:nvSpPr>
        <p:spPr>
          <a:xfrm>
            <a:off x="4983480" y="1810512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 held-out evaluation set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 larger multilingual model for real Hindi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Voice input for Find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 phone build</a:t>
            </a:r>
            <a:endParaRPr lang="en-US" sz="1400" dirty="0"/>
          </a:p>
        </p:txBody>
      </p:sp>
      <p:sp>
        <p:nvSpPr>
          <p:cNvPr id="9" name="Repository card"/>
          <p:cNvSpPr/>
          <p:nvPr/>
        </p:nvSpPr>
        <p:spPr>
          <a:xfrm>
            <a:off x="457200" y="356616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/>
        </p:spPr>
      </p:sp>
      <p:sp>
        <p:nvSpPr>
          <p:cNvPr id="10" name="Repository link"/>
          <p:cNvSpPr txBox="1"/>
          <p:nvPr/>
        </p:nvSpPr>
        <p:spPr>
          <a:xfrm>
            <a:off x="685800" y="36576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tx1"/>
                </a:solidFill>
              </a:rPr>
              <a:t>github.com/Dakshhhhh-ops/hacktober</a:t>
            </a:r>
            <a:endParaRPr lang="en-US" sz="2200" dirty="0"/>
          </a:p>
        </p:txBody>
      </p:sp>
      <p:sp>
        <p:nvSpPr>
          <p:cNvPr id="11" name="Run command"/>
          <p:cNvSpPr txBox="1"/>
          <p:nvPr/>
        </p:nvSpPr>
        <p:spPr>
          <a:xfrm>
            <a:off x="685800" y="40507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ollama pull qwen3-vl:2b-instruct, then python -m drishti, then press Space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C8C8C8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rishtiAI">
  <a:themeElements>
    <a:clrScheme name="DrishtiAI">
      <a:dk1>
        <a:srgbClr val="0B0B0B"/>
      </a:dk1>
      <a:lt1>
        <a:srgbClr val="FFFFFF"/>
      </a:lt1>
      <a:dk2>
        <a:srgbClr val="1F1F1F"/>
      </a:dk2>
      <a:lt2>
        <a:srgbClr val="C8C8C8"/>
      </a:lt2>
      <a:accent1>
        <a:srgbClr val="FFD400"/>
      </a:accent1>
      <a:accent2>
        <a:srgbClr val="FF5A4D"/>
      </a:accent2>
      <a:accent3>
        <a:srgbClr val="7EE787"/>
      </a:accent3>
      <a:accent4>
        <a:srgbClr val="8AB4F8"/>
      </a:accent4>
      <a:accent5>
        <a:srgbClr val="FFE566"/>
      </a:accent5>
      <a:accent6>
        <a:srgbClr val="8A8A8A"/>
      </a:accent6>
      <a:hlink>
        <a:srgbClr val="FFD400"/>
      </a:hlink>
      <a:folHlink>
        <a:srgbClr val="C8C8C8"/>
      </a:folHlink>
    </a:clrScheme>
    <a:fontScheme name="DrishtiA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978</Words>
  <Application>Microsoft Office PowerPoint</Application>
  <PresentationFormat>On-screen Show (16:9)</PresentationFormat>
  <Paragraphs>101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DrishtiAI</vt:lpstr>
      <vt:lpstr>DrishtiAI</vt:lpstr>
      <vt:lpstr>Describing a scene should not need the cloud</vt:lpstr>
      <vt:lpstr>Three modes, spoken aloud, hazards first</vt:lpstr>
      <vt:lpstr>One local pipeline, open at every step</vt:lpstr>
      <vt:lpstr>Measured on 30 images: 14 of 15 hazards found</vt:lpstr>
      <vt:lpstr>Three things failed on the first real run</vt:lpstr>
      <vt:lpstr>Honest limits, and what comes next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DrishtiAI</dc:title>
  <dc:subject>PptxGenJS Presentation</dc:subject>
  <dc:creator>Daksh</dc:creator>
  <cp:lastModifiedBy>daksh wadhwa</cp:lastModifiedBy>
  <cp:revision>1</cp:revision>
  <dcterms:created xsi:type="dcterms:W3CDTF">2026-10-11T11:53:16Z</dcterms:created>
  <dcterms:modified xsi:type="dcterms:W3CDTF">2026-10-11T12:00:39Z</dcterms:modified>
</cp:coreProperties>
</file>